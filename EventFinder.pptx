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8" r:id="rId10"/>
    <p:sldId id="270" r:id="rId11"/>
    <p:sldId id="265" r:id="rId12"/>
    <p:sldId id="269" r:id="rId13"/>
  </p:sldIdLst>
  <p:sldSz cx="9144000" cy="5143500" type="screen16x9"/>
  <p:notesSz cx="6858000" cy="9144000"/>
  <p:embeddedFontLst>
    <p:embeddedFont>
      <p:font typeface="Nunito" pitchFamily="2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8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9111f9fd3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9111f9fd3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a448466d2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a448466d2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9111f9fd3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09111f9fd3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a448466d2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a448466d2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09111f9fd3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09111f9fd3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9111f9fd3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9111f9fd3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9111f9fd3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09111f9fd3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23D7DFC2-2DF5-868A-9C02-C7D21252E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9111f9fd3_0_119:notes">
            <a:extLst>
              <a:ext uri="{FF2B5EF4-FFF2-40B4-BE49-F238E27FC236}">
                <a16:creationId xmlns:a16="http://schemas.microsoft.com/office/drawing/2014/main" id="{A1A2BD9B-3864-8E59-314E-0385C143B0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09111f9fd3_0_119:notes">
            <a:extLst>
              <a:ext uri="{FF2B5EF4-FFF2-40B4-BE49-F238E27FC236}">
                <a16:creationId xmlns:a16="http://schemas.microsoft.com/office/drawing/2014/main" id="{1E34DF67-95FA-1DA1-2DE9-F09AE1084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2997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>
          <a:extLst>
            <a:ext uri="{FF2B5EF4-FFF2-40B4-BE49-F238E27FC236}">
              <a16:creationId xmlns:a16="http://schemas.microsoft.com/office/drawing/2014/main" id="{AFAB38D1-570E-F01A-5215-B580DCA52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09111f9fd3_0_119:notes">
            <a:extLst>
              <a:ext uri="{FF2B5EF4-FFF2-40B4-BE49-F238E27FC236}">
                <a16:creationId xmlns:a16="http://schemas.microsoft.com/office/drawing/2014/main" id="{02341E03-25A8-2EF4-8407-E677140C0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09111f9fd3_0_119:notes">
            <a:extLst>
              <a:ext uri="{FF2B5EF4-FFF2-40B4-BE49-F238E27FC236}">
                <a16:creationId xmlns:a16="http://schemas.microsoft.com/office/drawing/2014/main" id="{66618F51-4D22-E51D-CFBB-DD7659C56B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770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a448466d2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a448466d2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>
          <a:extLst>
            <a:ext uri="{FF2B5EF4-FFF2-40B4-BE49-F238E27FC236}">
              <a16:creationId xmlns:a16="http://schemas.microsoft.com/office/drawing/2014/main" id="{935067C4-4658-C6C5-39A4-4244A33D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a448466d20_0_4:notes">
            <a:extLst>
              <a:ext uri="{FF2B5EF4-FFF2-40B4-BE49-F238E27FC236}">
                <a16:creationId xmlns:a16="http://schemas.microsoft.com/office/drawing/2014/main" id="{04C2FB84-DEFF-7937-40A2-32D8A4D197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a448466d20_0_4:notes">
            <a:extLst>
              <a:ext uri="{FF2B5EF4-FFF2-40B4-BE49-F238E27FC236}">
                <a16:creationId xmlns:a16="http://schemas.microsoft.com/office/drawing/2014/main" id="{F3A8DBA7-6415-83E7-8F46-9D3C2DE75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1834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891353" y="1216708"/>
            <a:ext cx="5361300" cy="299337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EventFinder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Description</a:t>
            </a:r>
            <a:endParaRPr dirty="0"/>
          </a:p>
        </p:txBody>
      </p:sp>
      <p:sp>
        <p:nvSpPr>
          <p:cNvPr id="141" name="Google Shape;141;p15"/>
          <p:cNvSpPr txBox="1">
            <a:spLocks noGrp="1"/>
          </p:cNvSpPr>
          <p:nvPr>
            <p:ph type="body" idx="1"/>
          </p:nvPr>
        </p:nvSpPr>
        <p:spPr>
          <a:xfrm>
            <a:off x="819149" y="1849900"/>
            <a:ext cx="4479471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dirty="0">
                <a:effectLst/>
                <a:latin typeface="__fkGroteskNeue_598ab8"/>
              </a:rPr>
              <a:t>NJIT students </a:t>
            </a:r>
            <a:r>
              <a:rPr lang="en-US" sz="2400" b="1" i="0" dirty="0">
                <a:effectLst/>
                <a:latin typeface="__fkGroteskNeue_598ab8"/>
              </a:rPr>
              <a:t>miss campus events </a:t>
            </a:r>
            <a:r>
              <a:rPr lang="en-US" sz="2400" b="0" i="0" dirty="0">
                <a:effectLst/>
                <a:latin typeface="__fkGroteskNeue_598ab8"/>
              </a:rPr>
              <a:t>due to </a:t>
            </a:r>
            <a:r>
              <a:rPr lang="en-US" sz="2400" b="1" i="0" dirty="0">
                <a:effectLst/>
                <a:latin typeface="__fkGroteskNeue_598ab8"/>
              </a:rPr>
              <a:t>scattered information across platforms</a:t>
            </a:r>
            <a:r>
              <a:rPr lang="en-US" sz="2400" dirty="0">
                <a:latin typeface="__fkGroteskNeue_598ab8"/>
              </a:rPr>
              <a:t>.</a:t>
            </a:r>
            <a:endParaRPr sz="24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139" y="1485808"/>
            <a:ext cx="3033738" cy="303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- Users</a:t>
            </a:r>
            <a:endParaRPr dirty="0"/>
          </a:p>
        </p:txBody>
      </p:sp>
      <p:sp>
        <p:nvSpPr>
          <p:cNvPr id="155" name="Google Shape;155;p17"/>
          <p:cNvSpPr txBox="1">
            <a:spLocks noGrp="1"/>
          </p:cNvSpPr>
          <p:nvPr>
            <p:ph type="body" idx="1"/>
          </p:nvPr>
        </p:nvSpPr>
        <p:spPr>
          <a:xfrm>
            <a:off x="819150" y="1424574"/>
            <a:ext cx="6860700" cy="28126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5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r>
              <a:rPr lang="en" sz="1800" b="1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Interview Participants</a:t>
            </a:r>
            <a:endParaRPr sz="1800" dirty="0">
              <a:solidFill>
                <a:schemeClr val="bg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298450" algn="l" rtl="0">
              <a:lnSpc>
                <a:spcPct val="2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Char char="●"/>
            </a:pPr>
            <a:r>
              <a:rPr lang="en-US" sz="1800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Students (Freshman, Seniors, Graduates)</a:t>
            </a:r>
          </a:p>
          <a:p>
            <a:pPr marL="457200" lvl="0" indent="-298450" algn="l" rtl="0">
              <a:lnSpc>
                <a:spcPct val="2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Char char="●"/>
            </a:pPr>
            <a:r>
              <a:rPr lang="en-US" sz="1800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Club Organizers (Gaming, </a:t>
            </a:r>
            <a:r>
              <a:rPr lang="en-US" sz="1800" dirty="0" err="1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Sanskaar</a:t>
            </a:r>
            <a:r>
              <a:rPr lang="en-US" sz="1800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</a:p>
          <a:p>
            <a:pPr marL="158750" lvl="0" indent="0" algn="l" rtl="0">
              <a:lnSpc>
                <a:spcPct val="2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en-IN" sz="1800" b="1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And Our Own Experience</a:t>
            </a:r>
            <a:endParaRPr lang="en-IN" sz="1800" dirty="0">
              <a:solidFill>
                <a:schemeClr val="bg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875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endParaRPr lang="en-US" sz="1100" dirty="0">
              <a:solidFill>
                <a:schemeClr val="bg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– So Many Sources!!!</a:t>
            </a:r>
            <a:endParaRPr dirty="0"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595" y="1476880"/>
            <a:ext cx="5700804" cy="320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- Key Findings</a:t>
            </a:r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body" idx="1"/>
          </p:nvPr>
        </p:nvSpPr>
        <p:spPr>
          <a:xfrm>
            <a:off x="819150" y="1636846"/>
            <a:ext cx="7329900" cy="30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  <a:spcBef>
                <a:spcPts val="600"/>
              </a:spcBef>
            </a:pPr>
            <a:r>
              <a:rPr lang="en" sz="1800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Organizers' Strategy</a:t>
            </a:r>
          </a:p>
          <a:p>
            <a:pPr marL="285750" indent="-285750">
              <a:lnSpc>
                <a:spcPct val="200000"/>
              </a:lnSpc>
              <a:spcBef>
                <a:spcPts val="600"/>
              </a:spcBef>
            </a:pPr>
            <a:r>
              <a:rPr lang="en-IN" sz="1800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Most Difficult For Freshmen</a:t>
            </a:r>
          </a:p>
          <a:p>
            <a:pPr marL="285750" indent="-285750">
              <a:lnSpc>
                <a:spcPct val="200000"/>
              </a:lnSpc>
              <a:spcBef>
                <a:spcPts val="600"/>
              </a:spcBef>
            </a:pPr>
            <a:r>
              <a:rPr lang="en-IN" sz="1800" dirty="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Time Constraints</a:t>
            </a:r>
          </a:p>
          <a:p>
            <a:pPr marL="0" indent="0">
              <a:lnSpc>
                <a:spcPct val="200000"/>
              </a:lnSpc>
              <a:spcBef>
                <a:spcPts val="600"/>
              </a:spcBef>
              <a:buNone/>
            </a:pPr>
            <a:endParaRPr lang="en-IN" sz="1100" dirty="0">
              <a:solidFill>
                <a:schemeClr val="bg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100" dirty="0">
              <a:solidFill>
                <a:schemeClr val="bg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SzPts val="275"/>
              <a:buNone/>
            </a:pPr>
            <a:endParaRPr sz="1100" dirty="0">
              <a:solidFill>
                <a:schemeClr val="bg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1200"/>
              </a:spcAft>
              <a:buNone/>
            </a:pPr>
            <a:endParaRPr sz="1100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50" y="206350"/>
            <a:ext cx="8738400" cy="472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 rotWithShape="1">
          <a:blip r:embed="rId3">
            <a:alphaModFix/>
          </a:blip>
          <a:srcRect l="4847" t="3219" r="5045" b="2636"/>
          <a:stretch/>
        </p:blipFill>
        <p:spPr>
          <a:xfrm>
            <a:off x="230525" y="221600"/>
            <a:ext cx="8682950" cy="47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Testing</a:t>
            </a:r>
            <a:endParaRPr dirty="0"/>
          </a:p>
        </p:txBody>
      </p:sp>
      <p:sp>
        <p:nvSpPr>
          <p:cNvPr id="177" name="Google Shape;177;p21"/>
          <p:cNvSpPr txBox="1">
            <a:spLocks noGrp="1"/>
          </p:cNvSpPr>
          <p:nvPr>
            <p:ph type="body" idx="1"/>
          </p:nvPr>
        </p:nvSpPr>
        <p:spPr>
          <a:xfrm>
            <a:off x="946313" y="1379101"/>
            <a:ext cx="6099466" cy="32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2"/>
                </a:solidFill>
              </a:rPr>
              <a:t>Participants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Students and Organizers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2000" b="1" dirty="0">
                <a:solidFill>
                  <a:schemeClr val="bg2"/>
                </a:solidFill>
              </a:rPr>
              <a:t>Protocol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/>
                </a:solidFill>
              </a:rPr>
              <a:t>Think aloud method + Open-ended questions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403A2D6B-9405-2B8D-B9B5-53C477934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>
            <a:extLst>
              <a:ext uri="{FF2B5EF4-FFF2-40B4-BE49-F238E27FC236}">
                <a16:creationId xmlns:a16="http://schemas.microsoft.com/office/drawing/2014/main" id="{B5084F3F-8740-50B2-C5F3-8E3C796A82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Testing – Task Scenarios</a:t>
            </a:r>
            <a:endParaRPr dirty="0"/>
          </a:p>
        </p:txBody>
      </p:sp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25F34526-9787-6033-51C7-464E091F83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6313" y="1379101"/>
            <a:ext cx="7789473" cy="32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N" sz="2000" kern="1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business-related events using the app’s filters.</a:t>
            </a:r>
          </a:p>
          <a:p>
            <a:pPr marL="342900" lvl="0" indent="-342900" algn="l" rtl="0">
              <a:lnSpc>
                <a:spcPct val="25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dirty="0">
                <a:solidFill>
                  <a:schemeClr val="bg2"/>
                </a:solidFill>
              </a:rPr>
              <a:t>Register for a business-related event.</a:t>
            </a:r>
          </a:p>
          <a:p>
            <a:pPr marL="342900" indent="-342900">
              <a:lnSpc>
                <a:spcPct val="25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solidFill>
                  <a:schemeClr val="bg2"/>
                </a:solidFill>
              </a:rPr>
              <a:t>Find ways to interact with other people through the app</a:t>
            </a: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996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>
          <a:extLst>
            <a:ext uri="{FF2B5EF4-FFF2-40B4-BE49-F238E27FC236}">
              <a16:creationId xmlns:a16="http://schemas.microsoft.com/office/drawing/2014/main" id="{B6B0628A-681B-E60C-0C53-633A120C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>
            <a:extLst>
              <a:ext uri="{FF2B5EF4-FFF2-40B4-BE49-F238E27FC236}">
                <a16:creationId xmlns:a16="http://schemas.microsoft.com/office/drawing/2014/main" id="{B1FE94AA-C13C-D60F-85E8-9B3EE5BFBF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Testing – Insights</a:t>
            </a:r>
            <a:endParaRPr dirty="0"/>
          </a:p>
        </p:txBody>
      </p:sp>
      <p:sp>
        <p:nvSpPr>
          <p:cNvPr id="177" name="Google Shape;177;p21">
            <a:extLst>
              <a:ext uri="{FF2B5EF4-FFF2-40B4-BE49-F238E27FC236}">
                <a16:creationId xmlns:a16="http://schemas.microsoft.com/office/drawing/2014/main" id="{3E613118-0262-6033-DC32-F7C0DED03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6313" y="1379101"/>
            <a:ext cx="7071016" cy="32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dirty="0">
                <a:solidFill>
                  <a:schemeClr val="bg2"/>
                </a:solidFill>
              </a:rPr>
              <a:t>Intuitive Design</a:t>
            </a:r>
          </a:p>
          <a:p>
            <a:pPr marL="285750" indent="-285750">
              <a:lnSpc>
                <a:spcPct val="200000"/>
              </a:lnSpc>
            </a:pPr>
            <a:r>
              <a:rPr lang="en-US" sz="2400" dirty="0">
                <a:solidFill>
                  <a:schemeClr val="bg2"/>
                </a:solidFill>
              </a:rPr>
              <a:t>Visuals</a:t>
            </a:r>
          </a:p>
          <a:p>
            <a:pPr marL="285750" indent="-285750">
              <a:lnSpc>
                <a:spcPct val="200000"/>
              </a:lnSpc>
            </a:pPr>
            <a:r>
              <a:rPr lang="en-US" sz="2400" dirty="0">
                <a:solidFill>
                  <a:schemeClr val="bg2"/>
                </a:solidFill>
              </a:rPr>
              <a:t>Feedback</a:t>
            </a:r>
          </a:p>
          <a:p>
            <a:pPr marL="285750" indent="-285750">
              <a:lnSpc>
                <a:spcPct val="150000"/>
              </a:lnSpc>
            </a:pPr>
            <a:endParaRPr lang="en-US" sz="1700" dirty="0">
              <a:solidFill>
                <a:schemeClr val="bg2"/>
              </a:solidFill>
            </a:endParaRPr>
          </a:p>
          <a:p>
            <a:pPr marL="285750" indent="-285750">
              <a:lnSpc>
                <a:spcPct val="150000"/>
              </a:lnSpc>
            </a:pPr>
            <a:endParaRPr lang="en-US" sz="1700" dirty="0">
              <a:solidFill>
                <a:schemeClr val="bg2"/>
              </a:solidFill>
            </a:endParaRPr>
          </a:p>
          <a:p>
            <a:pPr marL="285750" indent="-285750">
              <a:lnSpc>
                <a:spcPct val="150000"/>
              </a:lnSpc>
            </a:pPr>
            <a:endParaRPr lang="en-US" sz="1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802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Revision – Intuitive UI</a:t>
            </a:r>
            <a:endParaRPr dirty="0"/>
          </a:p>
        </p:txBody>
      </p:sp>
      <p:sp>
        <p:nvSpPr>
          <p:cNvPr id="184" name="Google Shape;184;p22"/>
          <p:cNvSpPr txBox="1">
            <a:spLocks noGrp="1"/>
          </p:cNvSpPr>
          <p:nvPr>
            <p:ph type="body" idx="1"/>
          </p:nvPr>
        </p:nvSpPr>
        <p:spPr>
          <a:xfrm>
            <a:off x="946314" y="1379101"/>
            <a:ext cx="7505700" cy="32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300000"/>
              </a:lnSpc>
            </a:pPr>
            <a:r>
              <a:rPr lang="en-US" sz="2000" dirty="0">
                <a:solidFill>
                  <a:schemeClr val="bg2"/>
                </a:solidFill>
              </a:rPr>
              <a:t>Made events eye-catching </a:t>
            </a:r>
          </a:p>
          <a:p>
            <a:pPr marL="285750" indent="-285750">
              <a:lnSpc>
                <a:spcPct val="300000"/>
              </a:lnSpc>
            </a:pPr>
            <a:r>
              <a:rPr lang="en-US" sz="2000" dirty="0">
                <a:solidFill>
                  <a:schemeClr val="bg2"/>
                </a:solidFill>
              </a:rPr>
              <a:t>Added feedback after registration</a:t>
            </a:r>
          </a:p>
          <a:p>
            <a:pPr marL="285750" indent="-285750">
              <a:lnSpc>
                <a:spcPct val="300000"/>
              </a:lnSpc>
            </a:pPr>
            <a:r>
              <a:rPr lang="en-US" sz="2000" dirty="0">
                <a:solidFill>
                  <a:schemeClr val="bg2"/>
                </a:solidFill>
              </a:rPr>
              <a:t>Added checkboxes for tags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700" dirty="0">
              <a:solidFill>
                <a:schemeClr val="bg2"/>
              </a:solidFill>
            </a:endParaRPr>
          </a:p>
          <a:p>
            <a:pPr marL="285750" indent="-285750">
              <a:lnSpc>
                <a:spcPct val="150000"/>
              </a:lnSpc>
            </a:pPr>
            <a:endParaRPr lang="en-US" sz="1700" dirty="0">
              <a:solidFill>
                <a:schemeClr val="bg2"/>
              </a:solidFill>
            </a:endParaRPr>
          </a:p>
          <a:p>
            <a:pPr marL="285750" indent="-285750">
              <a:lnSpc>
                <a:spcPct val="150000"/>
              </a:lnSpc>
            </a:pPr>
            <a:endParaRPr sz="17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C7751674-A138-4080-1ADF-AD10169A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>
            <a:extLst>
              <a:ext uri="{FF2B5EF4-FFF2-40B4-BE49-F238E27FC236}">
                <a16:creationId xmlns:a16="http://schemas.microsoft.com/office/drawing/2014/main" id="{EB98A676-81EC-F5C3-0047-429C7C683E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5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Reflection</a:t>
            </a:r>
            <a:endParaRPr/>
          </a:p>
        </p:txBody>
      </p:sp>
      <p:sp>
        <p:nvSpPr>
          <p:cNvPr id="184" name="Google Shape;184;p22">
            <a:extLst>
              <a:ext uri="{FF2B5EF4-FFF2-40B4-BE49-F238E27FC236}">
                <a16:creationId xmlns:a16="http://schemas.microsoft.com/office/drawing/2014/main" id="{6CD7B188-EBDC-7506-06E1-ABC99D6753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46314" y="1379101"/>
            <a:ext cx="7505700" cy="32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bg2"/>
                </a:solidFill>
              </a:rPr>
              <a:t>Incredible learning experience</a:t>
            </a:r>
          </a:p>
          <a:p>
            <a:pPr marL="457200" lvl="0" indent="-3365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2000" dirty="0">
                <a:solidFill>
                  <a:schemeClr val="bg2"/>
                </a:solidFill>
              </a:rPr>
              <a:t>Adopting design thinking</a:t>
            </a:r>
            <a:endParaRPr sz="2000" dirty="0">
              <a:solidFill>
                <a:schemeClr val="bg2"/>
              </a:solidFill>
            </a:endParaRPr>
          </a:p>
          <a:p>
            <a:pPr marL="45720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2000" dirty="0">
                <a:solidFill>
                  <a:schemeClr val="bg2"/>
                </a:solidFill>
              </a:rPr>
              <a:t>Focusing on the problem before solution</a:t>
            </a:r>
          </a:p>
          <a:p>
            <a:pPr marL="45720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2000" dirty="0">
                <a:solidFill>
                  <a:schemeClr val="bg2"/>
                </a:solidFill>
              </a:rPr>
              <a:t>Creating human-centered designs</a:t>
            </a:r>
            <a:endParaRPr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365337"/>
      </p:ext>
    </p:extLst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546</TotalTime>
  <Words>139</Words>
  <Application>Microsoft Office PowerPoint</Application>
  <PresentationFormat>On-screen Show (16:9)</PresentationFormat>
  <Paragraphs>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Roboto</vt:lpstr>
      <vt:lpstr>Nunito</vt:lpstr>
      <vt:lpstr>Calibri</vt:lpstr>
      <vt:lpstr>__fkGroteskNeue_598ab8</vt:lpstr>
      <vt:lpstr>Wingdings</vt:lpstr>
      <vt:lpstr>Arial</vt:lpstr>
      <vt:lpstr>Shift</vt:lpstr>
      <vt:lpstr>EventFinder</vt:lpstr>
      <vt:lpstr>Problem Description</vt:lpstr>
      <vt:lpstr>Research - Users</vt:lpstr>
      <vt:lpstr>Research – So Many Sources!!!</vt:lpstr>
      <vt:lpstr>Research - Key Findings</vt:lpstr>
      <vt:lpstr>PowerPoint Presentation</vt:lpstr>
      <vt:lpstr>PowerPoint Presentation</vt:lpstr>
      <vt:lpstr>User Testing</vt:lpstr>
      <vt:lpstr>User Testing – Task Scenarios</vt:lpstr>
      <vt:lpstr>User Testing – Insights</vt:lpstr>
      <vt:lpstr>Revision – Intuitive UI</vt:lpstr>
      <vt:lpstr>Reflection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Swathi Reddy</cp:lastModifiedBy>
  <cp:revision>11</cp:revision>
  <dcterms:modified xsi:type="dcterms:W3CDTF">2025-04-14T02:06:37Z</dcterms:modified>
</cp:coreProperties>
</file>